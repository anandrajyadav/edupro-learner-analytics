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6BEDC"/>
                </a:solidFill>
                <a:latin typeface="Aptos"/>
              </a:rPr>
              <a:t>EDUPRO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5F7FA"/>
                </a:solidFill>
                <a:latin typeface="Aptos"/>
              </a:rPr>
              <a:t>Learner Demographics and Course
Enrollment Behavior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2461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9C3D2"/>
                </a:solidFill>
                <a:latin typeface="Aptos"/>
              </a:rPr>
              <a:t>A Descriptive Analytics Approach for Understanding
Learner Participation, Course Preferences and Enrollment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Master of Computer Applications (MCA)
Research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3D2"/>
                </a:solidFill>
                <a:latin typeface="Aptos"/>
              </a:rPr>
              <a:t>Why learner and enrollment analytics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Online learning platforms generate large volumes of learner, course and transaction data.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Raw records do not directly explain participation, preferences or engagement patterns.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Educational data analytics converts these records into interpretable evidence.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This project focuses on descriptive analysis of the EduPro learning dataset.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An interactive Streamlit dashboard makes the findings easy to explore.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2. Problem Statement &amp;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Which age groups are most active?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How does enrollment participation differ by gender?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Which course categories, types and levels are preferred?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How do course preferences vary across age and gender?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How is learner engagement distributed?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What temporal patterns exist in course enrollment?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Which demographic-course combinations show stronger participation?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3. Dataset &amp; 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3D2"/>
                </a:solidFill>
                <a:latin typeface="Aptos"/>
              </a:rPr>
              <a:t>Four relational datasets integrated into one analytical 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423160" cy="1143000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6BEDC"/>
                </a:solidFill>
                <a:latin typeface="Aptos"/>
              </a:rP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933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Aptos"/>
              </a:rPr>
              <a:t>3,000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417320"/>
            <a:ext cx="2423160" cy="1143000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9" y="16276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6BEDC"/>
                </a:solidFill>
                <a:latin typeface="Aptos"/>
              </a:rPr>
              <a:t>Teachers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9" y="19933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Aptos"/>
              </a:rPr>
              <a:t>60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2423160" cy="1143000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276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6BEDC"/>
                </a:solidFill>
                <a:latin typeface="Aptos"/>
              </a:rPr>
              <a:t>Courses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Aptos"/>
              </a:rPr>
              <a:t>60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59" y="1417320"/>
            <a:ext cx="2423160" cy="1143000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16276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6BEDC"/>
                </a:solidFill>
                <a:latin typeface="Aptos"/>
              </a:rP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19933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5F7FA"/>
                </a:solidFill>
                <a:latin typeface="Aptos"/>
              </a:rPr>
              <a:t>10,000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F7FA"/>
                </a:solidFill>
                <a:latin typeface="Aptos"/>
              </a:rPr>
              <a:t>Users ── UserID ──&gt; Transactions &lt;── CourseID ── Courses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703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6BEDC"/>
                </a:solidFill>
                <a:latin typeface="Aptos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160520"/>
            <a:ext cx="6126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6BEDC"/>
                </a:solidFill>
                <a:latin typeface="Aptos"/>
              </a:rPr>
              <a:t>MASTER ANALYTICAL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9204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9C3D2"/>
                </a:solidFill>
                <a:latin typeface="Aptos"/>
              </a:rPr>
              <a:t>Learner demographics + enrollment transactions + course attributes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4.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4983480" cy="530352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536192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1. Data Collection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4983480" cy="530352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5392" y="1536192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2. Cleaning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58568"/>
            <a:ext cx="4983480" cy="530352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7744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3.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58568"/>
            <a:ext cx="4983480" cy="530352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2377440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4. Master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99816"/>
            <a:ext cx="4983480" cy="530352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218688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5. Demographic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099816"/>
            <a:ext cx="4983480" cy="530352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3218688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6. Course Preference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41064"/>
            <a:ext cx="4983480" cy="530352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059936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7. Engagement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41064"/>
            <a:ext cx="4983480" cy="530352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4059936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8. Temporal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82312"/>
            <a:ext cx="4983480" cy="530352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90118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9. Cross-Dimensional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82312"/>
            <a:ext cx="4983480" cy="530352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901184"/>
            <a:ext cx="4617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10. Research Findings &amp; SDG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5. Learner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9C3D2"/>
                </a:solidFill>
                <a:latin typeface="Aptos"/>
              </a:rPr>
              <a:t>Age-group enrollment chart
(open the dashboard for the live visualization)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0020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Age groups: &lt;18, 18–25, 26–35, 36–45 and 45+.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Gender participation is compared across age segments.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Use the dashboard to identify the highest-participation segment from the actual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6. Course Preference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9C3D2"/>
                </a:solidFill>
                <a:latin typeface="Aptos"/>
              </a:rPr>
              <a:t>Course preference visualizations
available in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5087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Course category, type and level were analyzed.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Top enrolled courses were identified.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Age-wise and gender-wise course preferences were compared.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Popularity is interpreted as enrollment participation, not course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7. Learner Engagement &amp; Temporal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Low Activity: 1–2 enrollments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Moderate: 3–5 enrollments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High: 6–10 enrollments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Very High: 11+ enrollments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Monthly enrollment trends and Month-over-Month changes were analyzed.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Peak and lowest enrollment periods are identified from transaction dates.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3774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9C3D2"/>
                </a:solidFill>
                <a:latin typeface="Aptos"/>
              </a:rPr>
              <a:t>Monthly enrollment trend
available in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8. Cross-Dimensional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5257800" cy="1097280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63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6BEDC"/>
                </a:solidFill>
                <a:latin typeface="Aptos"/>
              </a:rPr>
              <a:t>Age ×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3D2"/>
                </a:solidFill>
                <a:latin typeface="Aptos"/>
              </a:rPr>
              <a:t>Compare course-category demand across age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5257800" cy="1097280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563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6BEDC"/>
                </a:solidFill>
                <a:latin typeface="Aptos"/>
              </a:rPr>
              <a:t>Age ×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8928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3D2"/>
                </a:solidFill>
                <a:latin typeface="Aptos"/>
              </a:rPr>
              <a:t>Identify level preferences across learner segments.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26080"/>
            <a:ext cx="5257800" cy="1097280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723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6BEDC"/>
                </a:solidFill>
                <a:latin typeface="Aptos"/>
              </a:rPr>
              <a:t>Gender ×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015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3D2"/>
                </a:solidFill>
                <a:latin typeface="Aptos"/>
              </a:rPr>
              <a:t>Compare category participation across genders.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926080"/>
            <a:ext cx="5257800" cy="1097280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0723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6BEDC"/>
                </a:solidFill>
                <a:latin typeface="Aptos"/>
              </a:rPr>
              <a:t>Gender ×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0156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3D2"/>
                </a:solidFill>
                <a:latin typeface="Aptos"/>
              </a:rPr>
              <a:t>Compare beginner/intermediate/advanced participation.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34840"/>
            <a:ext cx="5257800" cy="1097280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811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6BEDC"/>
                </a:solidFill>
                <a:latin typeface="Aptos"/>
              </a:rPr>
              <a:t>Age ×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1032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3D2"/>
                </a:solidFill>
                <a:latin typeface="Aptos"/>
              </a:rPr>
              <a:t>Connect demographic segment with engagement intensity.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434840"/>
            <a:ext cx="5257800" cy="1097280"/>
          </a:xfrm>
          <a:prstGeom prst="roundRect">
            <a:avLst/>
          </a:prstGeom>
          <a:solidFill>
            <a:srgbClr val="14213E"/>
          </a:solidFill>
          <a:ln>
            <a:solidFill>
              <a:srgbClr val="2A6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58114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6BEDC"/>
                </a:solidFill>
                <a:latin typeface="Aptos"/>
              </a:rPr>
              <a:t>Age × Gender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10327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3D2"/>
                </a:solidFill>
                <a:latin typeface="Aptos"/>
              </a:rPr>
              <a:t>Examine combined demographic participation.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9. Interactive Streamlit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Overview — KPIs and high-level enrollment patterns</a:t>
            </a:r>
          </a:p>
          <a:p>
            <a:pPr>
              <a:spcAft>
                <a:spcPts val="12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Demographics — age, gender and demographic comparisons</a:t>
            </a:r>
          </a:p>
          <a:p>
            <a:pPr>
              <a:spcAft>
                <a:spcPts val="12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Course Intelligence — categories, levels and top courses</a:t>
            </a:r>
          </a:p>
          <a:p>
            <a:pPr>
              <a:spcAft>
                <a:spcPts val="12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Learner Engagement — activity segments and learner behavior</a:t>
            </a:r>
          </a:p>
          <a:p>
            <a:pPr>
              <a:spcAft>
                <a:spcPts val="12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Temporal Trends — monthly enrollment and MoM change</a:t>
            </a:r>
          </a:p>
          <a:p>
            <a:pPr>
              <a:spcAft>
                <a:spcPts val="12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Cross-Dimensional — combined demographic-course analysis</a:t>
            </a:r>
          </a:p>
          <a:p>
            <a:pPr>
              <a:spcAft>
                <a:spcPts val="12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Research Findings — generated research insights and recommendations</a:t>
            </a:r>
          </a:p>
          <a:p>
            <a:pPr>
              <a:spcAft>
                <a:spcPts val="12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SDG 4 — education-related analytical relevance</a:t>
            </a:r>
          </a:p>
          <a:p>
            <a:pPr>
              <a:spcAft>
                <a:spcPts val="1200"/>
              </a:spcAft>
              <a:defRPr sz="1500">
                <a:solidFill>
                  <a:srgbClr val="F5F7FA"/>
                </a:solidFill>
                <a:latin typeface="Aptos"/>
              </a:defRPr>
            </a:pPr>
            <a:r>
              <a:t>• Filters — Age Group, Gender, Category, Level and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10. SDG 4 &amp; Government Stakeholder Relevance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SDG 4 focuses on inclusive and equitable quality education and lifelong learning.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Target 4.3 — access to technical, vocational and tertiary education.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Target 4.4 — relevant skills for employment, decent work and entrepreneurship.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Target 4.5 — reducing gender disparities and supporting equal access.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project provides descriptive evidence relevant to education planning.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It does not claim to prove achievement of SDG 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11. Key Findings, Recommendations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Use actual Step 27/28 findings and dashboard values when presenting numerical results.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Monitor participation across age and gender segments.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Use course-category and level demand as descriptive evidence of learning demand.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Track highly active and low-activity learner groups separately.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Use temporal patterns to support evidence-based education monitoring.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Limitations: dataset scope, no completion data, descriptive analysis cannot establish causality.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12.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The project converts raw educational data into a structured analytical view of learner participation.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Demographic, course, engagement, temporal and cross-dimensional patterns can be explored interactively.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The Streamlit dashboard makes the analysis accessible to academic and stakeholder users.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Future scope: course completion, retention, predictive analytics, recommendation systems, geographic analysis and longitudinal learner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54406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46BEDC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B9C3D2"/>
                </a:solidFill>
                <a:latin typeface="Aptos"/>
              </a:rPr>
              <a:t>EduPro Learner Analytics  |  MCA Research Project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